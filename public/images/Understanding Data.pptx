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0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8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  •  DATA UNDERSTANDING &amp; DATASET EXPLORATION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 &amp;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Exploration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types, measurement scales, and data quality — explored hands-on with a real customer dataset in Pandas.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E9B4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 |  BSCS / BSIT  |  Data Science Course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960120" cy="9601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011680"/>
            <a:ext cx="9052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the structure, characteristics, and quality of datasets by identifying variable types, measurement scales, and data quality issues.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1148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builds directly on CRISP-DM's Data Understanding phase (CLO1) — it's the toolkit you'll use to explore any dataset before modeling.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48920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0" name="Text 8"/>
          <p:cNvSpPr txBox="1"/>
          <p:nvPr/>
        </p:nvSpPr>
        <p:spPr>
          <a:xfrm>
            <a:off x="502920" y="4892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vs. unstructured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51960" y="48920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2" name="Text 10"/>
          <p:cNvSpPr txBox="1"/>
          <p:nvPr/>
        </p:nvSpPr>
        <p:spPr>
          <a:xfrm>
            <a:off x="4251960" y="4892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vs. qualitative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001000" y="48920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4" name="Text 12"/>
          <p:cNvSpPr txBox="1"/>
          <p:nvPr/>
        </p:nvSpPr>
        <p:spPr>
          <a:xfrm>
            <a:off x="8001000" y="4892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 &amp; scales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2920" y="56235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6" name="Text 14"/>
          <p:cNvSpPr txBox="1"/>
          <p:nvPr/>
        </p:nvSpPr>
        <p:spPr>
          <a:xfrm>
            <a:off x="502920" y="5623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251960" y="56235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8" name="Text 16"/>
          <p:cNvSpPr txBox="1"/>
          <p:nvPr/>
        </p:nvSpPr>
        <p:spPr>
          <a:xfrm>
            <a:off x="4251960" y="5623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exploration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Information, and Knowledge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3246120" cy="2697480"/>
          </a:xfrm>
          <a:prstGeom prst="roundRect">
            <a:avLst>
              <a:gd name="adj" fmla="val 3390"/>
            </a:avLst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unorganized facts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338328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“37, 42, 29, 51”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783080"/>
            <a:ext cx="594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3246120" cy="2697480"/>
          </a:xfrm>
          <a:prstGeom prst="roundRect">
            <a:avLst>
              <a:gd name="adj" fmla="val 33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1" name="Text 9"/>
          <p:cNvSpPr txBox="1"/>
          <p:nvPr/>
        </p:nvSpPr>
        <p:spPr>
          <a:xfrm>
            <a:off x="461772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606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given context &amp; structure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83480" y="338328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 txBox="1"/>
          <p:nvPr/>
        </p:nvSpPr>
        <p:spPr>
          <a:xfrm>
            <a:off x="4846320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“Ages of customers who churned”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783080"/>
            <a:ext cx="594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8458200" y="1783080"/>
            <a:ext cx="3246120" cy="2697480"/>
          </a:xfrm>
          <a:prstGeom prst="roundRect">
            <a:avLst>
              <a:gd name="adj" fmla="val 339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7" name="Text 15"/>
          <p:cNvSpPr txBox="1"/>
          <p:nvPr/>
        </p:nvSpPr>
        <p:spPr>
          <a:xfrm>
            <a:off x="845820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606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+ experience applied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823960" y="338328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0" name="Text 18"/>
          <p:cNvSpPr txBox="1"/>
          <p:nvPr/>
        </p:nvSpPr>
        <p:spPr>
          <a:xfrm>
            <a:off x="8686800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“Customers 40+ churn 3x more often”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 is the bridge between Data and Information — organizing raw data so it starts to reveal meaning. This is exactly what Sections 5–10 of this lecture give you the tools to do.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Structured, Semi-Structured, and Unstructured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EF4F8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schema of rows &amp; columns; easily stored in relational databases or spreadsheets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886200"/>
            <a:ext cx="2606040" cy="0"/>
          </a:xfrm>
          <a:prstGeom prst="line">
            <a:avLst/>
          </a:prstGeom>
          <a:noFill/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960120" y="4069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files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logs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1" name="Text 9"/>
          <p:cNvSpPr txBox="1"/>
          <p:nvPr/>
        </p:nvSpPr>
        <p:spPr>
          <a:xfrm>
            <a:off x="4315968" y="1691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SEMI-STRUCTURED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4544568" y="2697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structure (tags/keys), but no fixed schema — flexible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73168" y="3886200"/>
            <a:ext cx="26060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4773168" y="4069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29016" y="16916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7" name="Text 15"/>
          <p:cNvSpPr txBox="1"/>
          <p:nvPr/>
        </p:nvSpPr>
        <p:spPr>
          <a:xfrm>
            <a:off x="8129016" y="1691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129016" y="25146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EF4F8"/>
          </a:solidFill>
          <a:ln w="12700">
            <a:solidFill>
              <a:srgbClr val="E9B44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8357616" y="26974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structure or format at all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86216" y="3886200"/>
            <a:ext cx="2606040" cy="0"/>
          </a:xfrm>
          <a:prstGeom prst="line">
            <a:avLst/>
          </a:prstGeom>
          <a:noFill/>
          <a:ln w="12700">
            <a:solidFill>
              <a:srgbClr val="E9B44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1" name="Text 19"/>
          <p:cNvSpPr txBox="1"/>
          <p:nvPr/>
        </p:nvSpPr>
        <p:spPr>
          <a:xfrm>
            <a:off x="8586216" y="40690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video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documents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 usually combine all three — e.g., a hospital dataset: structured vitals + semi-structured lab JSON + unstructured doctor's notes.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and Sample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297680"/>
          </a:xfrm>
          <a:prstGeom prst="ellipse">
            <a:avLst/>
          </a:prstGeom>
          <a:solidFill>
            <a:srgbClr val="EEF4F8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0" y="3063240"/>
            <a:ext cx="2743200" cy="2331720"/>
          </a:xfrm>
          <a:prstGeom prst="ellipse">
            <a:avLst/>
          </a:prstGeom>
          <a:solidFill>
            <a:srgbClr val="0B3D5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Text 5"/>
          <p:cNvSpPr txBox="1"/>
          <p:nvPr/>
        </p:nvSpPr>
        <p:spPr>
          <a:xfrm>
            <a:off x="201168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3886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analyze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6583680" y="2011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 </a:t>
            </a: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set of individuals/items a study is interested in.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“all registered voters in the Philippines”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55080" y="3931920"/>
            <a:ext cx="5349240" cy="2286000"/>
          </a:xfrm>
          <a:prstGeom prst="roundRect">
            <a:avLst>
              <a:gd name="adj" fmla="val 4444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6583680" y="4114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 </a:t>
            </a: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subset actually collected and analyzed.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846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Collecting from an entire population is often too costly, slow, or impossible — watch for sampling bias.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572768" cy="566928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CustID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75688" y="1737360"/>
            <a:ext cx="1572768" cy="566928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Text 5"/>
          <p:cNvSpPr txBox="1"/>
          <p:nvPr/>
        </p:nvSpPr>
        <p:spPr>
          <a:xfrm>
            <a:off x="2075688" y="17373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48456" y="1737360"/>
            <a:ext cx="1572768" cy="566928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3648456" y="17373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21224" y="1737360"/>
            <a:ext cx="1572768" cy="566928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1" name="Text 9"/>
          <p:cNvSpPr txBox="1"/>
          <p:nvPr/>
        </p:nvSpPr>
        <p:spPr>
          <a:xfrm>
            <a:off x="5221224" y="17373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93992" y="1737360"/>
            <a:ext cx="1572768" cy="566928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6793992" y="173736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2304288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502920" y="23042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075688" y="2304288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Text 15"/>
          <p:cNvSpPr txBox="1"/>
          <p:nvPr/>
        </p:nvSpPr>
        <p:spPr>
          <a:xfrm>
            <a:off x="2075688" y="23042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48456" y="2304288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3648456" y="23042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221224" y="2304288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1" name="Text 19"/>
          <p:cNvSpPr txBox="1"/>
          <p:nvPr/>
        </p:nvSpPr>
        <p:spPr>
          <a:xfrm>
            <a:off x="5221224" y="23042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Postpaid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93992" y="2304288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3" name="Text 21"/>
          <p:cNvSpPr txBox="1"/>
          <p:nvPr/>
        </p:nvSpPr>
        <p:spPr>
          <a:xfrm>
            <a:off x="6793992" y="23042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" y="2871216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 23"/>
          <p:cNvSpPr txBox="1"/>
          <p:nvPr/>
        </p:nvSpPr>
        <p:spPr>
          <a:xfrm>
            <a:off x="502920" y="28712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075688" y="2871216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7" name="Text 25"/>
          <p:cNvSpPr txBox="1"/>
          <p:nvPr/>
        </p:nvSpPr>
        <p:spPr>
          <a:xfrm>
            <a:off x="2075688" y="28712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648456" y="2871216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9" name="Text 27"/>
          <p:cNvSpPr txBox="1"/>
          <p:nvPr/>
        </p:nvSpPr>
        <p:spPr>
          <a:xfrm>
            <a:off x="3648456" y="28712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IV-A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221224" y="2871216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1" name="Text 29"/>
          <p:cNvSpPr txBox="1"/>
          <p:nvPr/>
        </p:nvSpPr>
        <p:spPr>
          <a:xfrm>
            <a:off x="5221224" y="28712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93992" y="2871216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3" name="Text 31"/>
          <p:cNvSpPr txBox="1"/>
          <p:nvPr/>
        </p:nvSpPr>
        <p:spPr>
          <a:xfrm>
            <a:off x="6793992" y="28712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02920" y="3438144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5" name="Text 33"/>
          <p:cNvSpPr txBox="1"/>
          <p:nvPr/>
        </p:nvSpPr>
        <p:spPr>
          <a:xfrm>
            <a:off x="502920" y="343814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2075688" y="3438144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7" name="Text 35"/>
          <p:cNvSpPr txBox="1"/>
          <p:nvPr/>
        </p:nvSpPr>
        <p:spPr>
          <a:xfrm>
            <a:off x="2075688" y="343814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3648456" y="3438144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9" name="Text 37"/>
          <p:cNvSpPr txBox="1"/>
          <p:nvPr/>
        </p:nvSpPr>
        <p:spPr>
          <a:xfrm>
            <a:off x="3648456" y="343814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221224" y="3438144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1" name="Text 39"/>
          <p:cNvSpPr txBox="1"/>
          <p:nvPr/>
        </p:nvSpPr>
        <p:spPr>
          <a:xfrm>
            <a:off x="5221224" y="343814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Postpaid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793992" y="3438144"/>
            <a:ext cx="1572768" cy="566928"/>
          </a:xfrm>
          <a:prstGeom prst="rect">
            <a:avLst/>
          </a:prstGeom>
          <a:solidFill>
            <a:srgbClr val="EEF4F8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3" name="Text 41"/>
          <p:cNvSpPr txBox="1"/>
          <p:nvPr/>
        </p:nvSpPr>
        <p:spPr>
          <a:xfrm>
            <a:off x="6793992" y="343814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502920" y="4005072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5" name="Text 43"/>
          <p:cNvSpPr txBox="1"/>
          <p:nvPr/>
        </p:nvSpPr>
        <p:spPr>
          <a:xfrm>
            <a:off x="502920" y="400507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2075688" y="4005072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7" name="Text 45"/>
          <p:cNvSpPr txBox="1"/>
          <p:nvPr/>
        </p:nvSpPr>
        <p:spPr>
          <a:xfrm>
            <a:off x="2075688" y="400507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3648456" y="4005072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9" name="Text 47"/>
          <p:cNvSpPr txBox="1"/>
          <p:nvPr/>
        </p:nvSpPr>
        <p:spPr>
          <a:xfrm>
            <a:off x="3648456" y="400507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III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221224" y="4005072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1" name="Text 49"/>
          <p:cNvSpPr txBox="1"/>
          <p:nvPr/>
        </p:nvSpPr>
        <p:spPr>
          <a:xfrm>
            <a:off x="5221224" y="400507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Postpaid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793992" y="4005072"/>
            <a:ext cx="15727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3" name="Text 51"/>
          <p:cNvSpPr txBox="1"/>
          <p:nvPr/>
        </p:nvSpPr>
        <p:spPr>
          <a:xfrm>
            <a:off x="6793992" y="400507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595360" y="17373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Feature / Variable (a column)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8595360" y="2304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Label / Target</a:t>
            </a:r>
            <a:endParaRPr lang="en-US" sz="2000" dirty="0"/>
          </a:p>
        </p:txBody>
      </p:sp>
      <p:sp>
        <p:nvSpPr>
          <p:cNvPr id="56" name="Text 54"/>
          <p:cNvSpPr txBox="1"/>
          <p:nvPr/>
        </p:nvSpPr>
        <p:spPr>
          <a:xfrm>
            <a:off x="8595360" y="28712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Observation / Record (a row)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02920" y="4748649"/>
            <a:ext cx="11155680" cy="1691640"/>
          </a:xfrm>
          <a:prstGeom prst="roundRect">
            <a:avLst>
              <a:gd name="adj" fmla="val 5405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8" name="Text 56"/>
          <p:cNvSpPr txBox="1"/>
          <p:nvPr/>
        </p:nvSpPr>
        <p:spPr>
          <a:xfrm>
            <a:off x="777240" y="4931529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whole table.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</a:t>
            </a: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“data about data” — source, collection date, units, and definitions, usually kept in a data dictionary or README file.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dirty="0"/>
          </a:p>
        </p:txBody>
      </p:sp>
      <p:sp>
        <p:nvSpPr>
          <p:cNvPr id="60" name="Text 5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vs. Qualitative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way to classify any variable — before getting into the more detailed types on the next slides.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777240" y="23500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072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(Numerical)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much? How many?”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represent a measurable quantity. Supports arithmetic — averages, sums, differences.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636008"/>
            <a:ext cx="47091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777240" y="4754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= 34 months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 = ₱499.75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 txBox="1"/>
          <p:nvPr/>
        </p:nvSpPr>
        <p:spPr>
          <a:xfrm>
            <a:off x="6492240" y="23500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8072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(Categorical)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00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kind? Which group?”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657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qualities or categories, not amounts. No arithmetic — even if coded with numbers.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92240" y="4636008"/>
            <a:ext cx="47091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6492240" y="4754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= “Two year”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= “NCR”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Subtypes of Quantitative &amp; Qualitative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667512" y="19202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667512" y="1920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3591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85292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values, usually whole numbers — nothing meaningful in between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388620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support tickets: 0, 1, 2, 3...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5848" y="173736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 txBox="1"/>
          <p:nvPr/>
        </p:nvSpPr>
        <p:spPr>
          <a:xfrm>
            <a:off x="3520440" y="1920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3591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5292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values that can take any value in a range, including decimals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88620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 = ₱499.75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08776" y="173736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Shape 15"/>
          <p:cNvSpPr/>
          <p:nvPr/>
        </p:nvSpPr>
        <p:spPr>
          <a:xfrm>
            <a:off x="6373368" y="19202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82A40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6373368" y="1920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73368" y="23591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285292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no natural order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388620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PaymentMethod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1704" y="1737360"/>
            <a:ext cx="2624328" cy="2834640"/>
          </a:xfrm>
          <a:prstGeom prst="roundRect">
            <a:avLst>
              <a:gd name="adj" fmla="val 348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3" name="Shape 21"/>
          <p:cNvSpPr/>
          <p:nvPr/>
        </p:nvSpPr>
        <p:spPr>
          <a:xfrm>
            <a:off x="9226296" y="19202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82A40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 txBox="1"/>
          <p:nvPr/>
        </p:nvSpPr>
        <p:spPr>
          <a:xfrm>
            <a:off x="9226296" y="1920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35915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852928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a meaningful order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388620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Month-to-month &lt; One year &lt; Two year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84632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EEF4F8"/>
          </a:solidFill>
          <a:ln w="15875">
            <a:solidFill>
              <a:srgbClr val="E9B44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777240" y="4983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trap:  </a:t>
            </a: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full of numbers isn't automatically quantitative. “SeniorCitizen” is stored as 0/1, and “CustomerID” looks numeric — both are qualitative, because the numbers are just labels, not quantities. Ask: “Does doing math on this number make sense?”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691640"/>
            <a:ext cx="5120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quantities — discrete or continuous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1691640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300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Height (cm)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79192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679192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679192"/>
            <a:ext cx="5120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represent categories, not quantities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679192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300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status, Product category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E9B4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3666744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666744"/>
            <a:ext cx="5120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categorical variable with exactly two values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666744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8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300" i="1" dirty="0">
                <a:solidFill>
                  <a:srgbClr val="08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Churned: Yes / 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654296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654296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4654296"/>
            <a:ext cx="5120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natural language content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4654296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300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reviews, doctor's notes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5641848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5641848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Date-Time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5641848"/>
            <a:ext cx="5120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point or interval in time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5641848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300" i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login timestamp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Measurement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11880" y="1645920"/>
            <a:ext cx="8046720" cy="859536"/>
          </a:xfrm>
          <a:prstGeom prst="rect">
            <a:avLst/>
          </a:prstGeom>
          <a:solidFill>
            <a:srgbClr val="0B3D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3794760" y="169164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70078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equal intervals + TRUE ZERO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20848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ops: </a:t>
            </a: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arithmetic (+ − × ÷)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556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Weight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062845" y="2633472"/>
            <a:ext cx="7595755" cy="859536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4187536" y="2679192"/>
            <a:ext cx="1801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68833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equal intervals, no true zero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07238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ops: </a:t>
            </a: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/ − (not × ÷)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02919" y="2743200"/>
            <a:ext cx="3377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(°C), IQ score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61609" y="3621024"/>
            <a:ext cx="7096991" cy="859536"/>
          </a:xfrm>
          <a:prstGeom prst="rect">
            <a:avLst/>
          </a:prstGeom>
          <a:solidFill>
            <a:srgbClr val="4E9BB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4769427" y="3675888"/>
            <a:ext cx="16334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610696" y="36758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a meaningful order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10696" y="40599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ops: </a:t>
            </a:r>
            <a:r>
              <a:rPr lang="en-US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(&lt; &gt;)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502919" y="3730752"/>
            <a:ext cx="38820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Low/Med/High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76009" y="4608576"/>
            <a:ext cx="6182591" cy="859536"/>
          </a:xfrm>
          <a:prstGeom prst="rect">
            <a:avLst/>
          </a:prstGeom>
          <a:solidFill>
            <a:srgbClr val="E9B44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0" name="Text 18"/>
          <p:cNvSpPr txBox="1"/>
          <p:nvPr/>
        </p:nvSpPr>
        <p:spPr>
          <a:xfrm>
            <a:off x="5633951" y="4654296"/>
            <a:ext cx="190984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663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8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no order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0474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ops: </a:t>
            </a:r>
            <a:r>
              <a:rPr lang="en-US" dirty="0">
                <a:solidFill>
                  <a:srgbClr val="08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mode, equality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502919" y="4718304"/>
            <a:ext cx="47902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type, Region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02920" y="56235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EEF4F8"/>
          </a:solidFill>
          <a:ln w="12700">
            <a:solidFill>
              <a:srgbClr val="E9B44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 23"/>
          <p:cNvSpPr txBox="1"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test: </a:t>
            </a: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zero mean “none at all”? Yes → Ratio. Zero is just a point on the scale → Interval.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CHARACTERISTICS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Shape, Dimensions, and Data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44087"/>
            <a:ext cx="11155680" cy="1298448"/>
          </a:xfrm>
          <a:prstGeom prst="roundRect">
            <a:avLst>
              <a:gd name="adj" fmla="val 7042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777240" y="1544087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544087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(rows, columns) — how many observations and features the dataset has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0" y="1836695"/>
            <a:ext cx="2788920" cy="713232"/>
          </a:xfrm>
          <a:prstGeom prst="roundRect">
            <a:avLst>
              <a:gd name="adj" fmla="val 7692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8823960" y="1836695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→ (506, 24)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2920" y="3007127"/>
            <a:ext cx="11155680" cy="1298448"/>
          </a:xfrm>
          <a:prstGeom prst="roundRect">
            <a:avLst>
              <a:gd name="adj" fmla="val 7042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777240" y="3007127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07127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features describing each observation; “high-dimensional” = very many columns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0" y="3299735"/>
            <a:ext cx="2788920" cy="713232"/>
          </a:xfrm>
          <a:prstGeom prst="roundRect">
            <a:avLst>
              <a:gd name="adj" fmla="val 7692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8823960" y="3299735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506 rows, 24 columns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2920" y="4470167"/>
            <a:ext cx="11155680" cy="1298448"/>
          </a:xfrm>
          <a:prstGeom prst="roundRect">
            <a:avLst>
              <a:gd name="adj" fmla="val 7042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777240" y="4470167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(dtypes)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470167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programming-level type stored per column — determines what operations are allowed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686800" y="4762775"/>
            <a:ext cx="2788920" cy="713232"/>
          </a:xfrm>
          <a:prstGeom prst="roundRect">
            <a:avLst>
              <a:gd name="adj" fmla="val 7692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8" name="Text 16"/>
          <p:cNvSpPr txBox="1"/>
          <p:nvPr/>
        </p:nvSpPr>
        <p:spPr>
          <a:xfrm>
            <a:off x="8823960" y="4762775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int64, float64, object, datetime64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07161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these three is always the first step of exploration — it reveals scale, and flags columns loaded with the wrong type (e.g., TotalCharges stored as text instead of a number).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Data Quality Dimensions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data correctly reflect reality?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
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recorded as 999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452628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missing values in the dataset?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26280" y="374904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452628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
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Income column is blank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4E9BB5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832104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data agree with itself across records/sources?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321040" y="374904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8" name="Text 16"/>
          <p:cNvSpPr txBox="1"/>
          <p:nvPr/>
        </p:nvSpPr>
        <p:spPr>
          <a:xfrm>
            <a:off x="8321040" y="388620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
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“NCR” vs “Metro Manila” for the same region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Data Quality Dimensions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data conform to defined formats/business rules?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
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field without an “@” symbol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452628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Timeliness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current enough for its intended use?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26280" y="374904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452628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
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2019 prices to predict 2026 demand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4E9BB5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832104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unwanted duplicate records?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321040" y="374904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8" name="Text 16"/>
          <p:cNvSpPr txBox="1"/>
          <p:nvPr/>
        </p:nvSpPr>
        <p:spPr>
          <a:xfrm>
            <a:off x="832104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
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transaction logged twice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Exploration Using Pandas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df.head(n)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420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 n rows — sanity-check the load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6492240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df.tail(n)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420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last n rows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 txBox="1"/>
          <p:nvPr/>
        </p:nvSpPr>
        <p:spPr>
          <a:xfrm>
            <a:off x="685800" y="3493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non-null counts, dtypes, memory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331012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Shape 15"/>
          <p:cNvSpPr/>
          <p:nvPr/>
        </p:nvSpPr>
        <p:spPr>
          <a:xfrm>
            <a:off x="6492240" y="3493008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8" name="Text 16"/>
          <p:cNvSpPr txBox="1"/>
          <p:nvPr/>
        </p:nvSpPr>
        <p:spPr>
          <a:xfrm>
            <a:off x="6492240" y="3493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069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for numeric columns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48371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1" name="Shape 19"/>
          <p:cNvSpPr/>
          <p:nvPr/>
        </p:nvSpPr>
        <p:spPr>
          <a:xfrm>
            <a:off x="685800" y="5020056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2" name="Text 20"/>
          <p:cNvSpPr txBox="1"/>
          <p:nvPr/>
        </p:nvSpPr>
        <p:spPr>
          <a:xfrm>
            <a:off x="685800" y="50200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5961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of every column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9360" y="48371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4F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Shape 23"/>
          <p:cNvSpPr/>
          <p:nvPr/>
        </p:nvSpPr>
        <p:spPr>
          <a:xfrm>
            <a:off x="6492240" y="502005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6" name="Text 24"/>
          <p:cNvSpPr txBox="1"/>
          <p:nvPr/>
        </p:nvSpPr>
        <p:spPr>
          <a:xfrm>
            <a:off x="6492240" y="5020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df['col'].value_counts()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5961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each unique value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08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DATASET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telco_customer_dataset.csv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telecom company's customer records — modeled on the structure of the real-world IBM/Kaggle Telco Customer Churn dataset. Provided for this course's lab exercise.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506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rows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3611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611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dimensions to find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082A40"/>
          </a:solidFill>
          <a:ln w="12700">
            <a:solidFill>
              <a:srgbClr val="E9B44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 txBox="1"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pre-cleaned by design: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realistic issues — missing values, duplicate rows, inconsistent region/gender spellings, invalid ages, and a numeric column stored as text — for you to find in the lab.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Pandas Cheat Sheet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examples below use telco_customer_dataset.csv, so the output shown is exactly what you'll see when you run it yourself.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pd.read_csv("telco_customer_dataset.csv")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worked examples follow, each with its real output — use them as a quick reference during the lab.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EXAMPLE 1 OF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shape, head(), dtypes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df.head(2)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11155680" cy="1737360"/>
          </a:xfrm>
          <a:prstGeom prst="roundRect">
            <a:avLst>
              <a:gd name="adj" fmla="val 3529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731520" y="3401568"/>
            <a:ext cx="10698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(506, 24)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Gender  SeniorCitizen  ...  MonthlyCharges  Churn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9447-UHCQX   male              1  ...           82.81      No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7435-YUEVC   male              1  ...           41.43      No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    object   ← unexpected! should be numeric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TotalCharges    object   ← unexpected! should be numeric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 loaded as “object” (text) when they should be numeric — a Validity issue to fix before modeling.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EXAMPLE 2 OF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Summary: info()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731520" y="3127248"/>
            <a:ext cx="10698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RangeIndex: 506 entries, 0 to 505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  Column        Non-Null Count  Dtype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Dependents    481 non-null    object   ← 25 missing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Age           496 non-null    object   ← 10 missing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  TotalCharges  490 non-null    object   ← 16 missing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with fewer non-null values than len(df) signals missing data — a Completeness issue.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EXAMPLE 3 OF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Statistics: describe()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 = pd.to_numeric(df["Age"], errors="coerce")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df["Age"].describe()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11155680" cy="1737360"/>
          </a:xfrm>
          <a:prstGeom prst="roundRect">
            <a:avLst>
              <a:gd name="adj" fmla="val 3158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731520" y="3401568"/>
            <a:ext cx="10698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  496.00     min        0.00   ← implausible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    45.82     25%       32.00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     23.94     50%       46.00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max      999.00   ← implausible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 (0) and max (999) immediately flag an Accuracy issue — no real customer is age 0 or 999.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EXAMPLE 4 OF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a Categorical Variable: value_counts()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df["Region"].value_counts()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731520" y="3127248"/>
            <a:ext cx="10698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NCR                        108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 Manila                62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 Capital Region     34   ← same place, 3 spellings!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ncr                         21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III                  55   ...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unique values for what should be 5 regions — a clear Consistency issue that needs standardizing.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EXAMPLE 5 OF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Data Quality Issues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0E2A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E7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(pd.to_numeric(df["Tenure"], errors="coerce") &lt; 0).sum()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731520" y="3401568"/>
            <a:ext cx="10698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← 6 duplicate rows (Uniqueness issue)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← 4 rows with negative Tenure (Accuracy issue)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4805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&gt; 0 → Completeness. duplicated().sum() &gt; 0 → Uniqueness. Unexpected dtype → Validity.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Exercise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telco_customer_dataset.csv using Pandas: identify variable types, characteristics, data quality issues, and recommend preprocessing techniques.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670048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7" name="Text 5"/>
          <p:cNvSpPr txBox="1"/>
          <p:nvPr/>
        </p:nvSpPr>
        <p:spPr>
          <a:xfrm>
            <a:off x="5943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9689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telco_customer_dataset.csv into a DataFrame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4360" y="3291840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5943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18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shape, head(), info(), describe(), dtypes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94360" y="3913632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5943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40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column's variable type &amp; measurement scale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94360" y="4535424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6" name="Text 14"/>
          <p:cNvSpPr txBox="1"/>
          <p:nvPr/>
        </p:nvSpPr>
        <p:spPr>
          <a:xfrm>
            <a:off x="5943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622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value_counts() on ≥ 2 categorical columns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94360" y="5157216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9" name="Text 17"/>
          <p:cNvSpPr txBox="1"/>
          <p:nvPr/>
        </p:nvSpPr>
        <p:spPr>
          <a:xfrm>
            <a:off x="59436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0840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≥ 3 data quality issues across ≥ 3 dimensions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94360" y="5779008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2" name="Text 20"/>
          <p:cNvSpPr txBox="1"/>
          <p:nvPr/>
        </p:nvSpPr>
        <p:spPr>
          <a:xfrm>
            <a:off x="594360" y="5779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7058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preprocessing technique for each issue found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Dataset Exploration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61872" y="-1472184"/>
            <a:ext cx="4572000" cy="4572000"/>
          </a:xfrm>
          <a:prstGeom prst="ellipse">
            <a:avLst/>
          </a:prstGeom>
          <a:solidFill>
            <a:srgbClr val="08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01368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82296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7335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Information → Knowledge: exploration is the first step of that climb.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9" name="Text 7"/>
          <p:cNvSpPr txBox="1"/>
          <p:nvPr/>
        </p:nvSpPr>
        <p:spPr>
          <a:xfrm>
            <a:off x="82296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3347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Structured, Semi-, or Unstructured; every variable is Quantitative or Qualitative first, then Numerical/Categorical/Binary/Text/Date-Time.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3721608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 txBox="1"/>
          <p:nvPr/>
        </p:nvSpPr>
        <p:spPr>
          <a:xfrm>
            <a:off x="82296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9359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scales (Nominal, Ordinal, Interval, Ratio) determine which statistics are valid.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4681728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 txBox="1"/>
          <p:nvPr/>
        </p:nvSpPr>
        <p:spPr>
          <a:xfrm>
            <a:off x="822960" y="4681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55371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shape, dimensions &amp; dtypes first; then audit the 6 Data Quality Dimensions.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5641848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8" name="Text 16"/>
          <p:cNvSpPr txBox="1"/>
          <p:nvPr/>
        </p:nvSpPr>
        <p:spPr>
          <a:xfrm>
            <a:off x="822960" y="5641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513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head(), info(), describe(), dtypes, value_counts() cover most of Data Understanding — practice them on telco_customer_dataset.csv.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2145</Words>
  <Application>Microsoft Macintosh PowerPoint</Application>
  <PresentationFormat>Widescreen</PresentationFormat>
  <Paragraphs>376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 G. Inovero</cp:lastModifiedBy>
  <cp:revision>2</cp:revision>
  <dcterms:created xsi:type="dcterms:W3CDTF">2026-09-07T16:10:02Z</dcterms:created>
  <dcterms:modified xsi:type="dcterms:W3CDTF">2026-09-10T05:03:41Z</dcterms:modified>
</cp:coreProperties>
</file>